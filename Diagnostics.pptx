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27" autoAdjust="0"/>
    <p:restoredTop sz="94660"/>
  </p:normalViewPr>
  <p:slideViewPr>
    <p:cSldViewPr snapToGrid="0">
      <p:cViewPr>
        <p:scale>
          <a:sx n="150" d="100"/>
          <a:sy n="150" d="100"/>
        </p:scale>
        <p:origin x="3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00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71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007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53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18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80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23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66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70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9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66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2A26877-5033-4C67-A29F-662325E34AC9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F4958B2-A62C-4540-B964-5A9B5A43B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43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E8111-D54D-C411-47C7-17FC11EBEF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Система «Умный перекресток»</a:t>
            </a:r>
            <a:br>
              <a:rPr lang="ru-RU" dirty="0"/>
            </a:br>
            <a:r>
              <a:rPr lang="ru-RU" dirty="0"/>
              <a:t>Модуль «Шлагбаум»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827DE8-7FA6-7540-AC85-C8852CF8D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dirty="0">
                <a:latin typeface="Bahnschrift Light" panose="020B0502040204020203" pitchFamily="34" charset="0"/>
              </a:rPr>
              <a:t>Студент: Белоусова Екатерина Вячеславовна</a:t>
            </a:r>
          </a:p>
          <a:p>
            <a:pPr algn="l"/>
            <a:r>
              <a:rPr lang="ru-RU" dirty="0">
                <a:latin typeface="Bahnschrift Light" panose="020B0502040204020203" pitchFamily="34" charset="0"/>
              </a:rPr>
              <a:t>Группа: 9ИС-31</a:t>
            </a:r>
          </a:p>
          <a:p>
            <a:pPr algn="l"/>
            <a:r>
              <a:rPr lang="ru-RU" dirty="0">
                <a:latin typeface="Bahnschrift Light" panose="020B0502040204020203" pitchFamily="34" charset="0"/>
              </a:rPr>
              <a:t>Дата выполнения: 24.10.2026</a:t>
            </a:r>
          </a:p>
        </p:txBody>
      </p:sp>
    </p:spTree>
    <p:extLst>
      <p:ext uri="{BB962C8B-B14F-4D97-AF65-F5344CB8AC3E}">
        <p14:creationId xmlns:p14="http://schemas.microsoft.com/office/powerpoint/2010/main" val="110341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37CD98C-0455-F529-40F0-03CCA491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692" y="3042395"/>
            <a:ext cx="3372808" cy="32291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FEE54-180E-AF50-9384-97A69655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1381"/>
            <a:ext cx="10058400" cy="1450757"/>
          </a:xfrm>
        </p:spPr>
        <p:txBody>
          <a:bodyPr/>
          <a:lstStyle/>
          <a:p>
            <a:r>
              <a:rPr lang="ru-RU" dirty="0"/>
              <a:t>Состав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3E2A60-A91D-8B5D-1439-BB5C58B1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753"/>
            <a:ext cx="3151909" cy="1019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>
                <a:latin typeface="Bahnschrift Light" panose="020B0502040204020203" pitchFamily="34" charset="0"/>
              </a:rPr>
              <a:t>База данных </a:t>
            </a:r>
            <a:r>
              <a:rPr lang="en-US" sz="2000" dirty="0">
                <a:latin typeface="Bahnschrift Light" panose="020B0502040204020203" pitchFamily="34" charset="0"/>
              </a:rPr>
              <a:t>events.bd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4FCC0FC-FCDB-0AC4-97EB-F59D57359BA4}"/>
              </a:ext>
            </a:extLst>
          </p:cNvPr>
          <p:cNvCxnSpPr>
            <a:cxnSpLocks/>
          </p:cNvCxnSpPr>
          <p:nvPr/>
        </p:nvCxnSpPr>
        <p:spPr>
          <a:xfrm>
            <a:off x="4313383" y="1908753"/>
            <a:ext cx="0" cy="43641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Объект 2">
            <a:extLst>
              <a:ext uri="{FF2B5EF4-FFF2-40B4-BE49-F238E27FC236}">
                <a16:creationId xmlns:a16="http://schemas.microsoft.com/office/drawing/2014/main" id="{F08171E6-C56A-D12E-A9A9-E28675BF94ED}"/>
              </a:ext>
            </a:extLst>
          </p:cNvPr>
          <p:cNvSpPr txBox="1">
            <a:spLocks/>
          </p:cNvSpPr>
          <p:nvPr/>
        </p:nvSpPr>
        <p:spPr>
          <a:xfrm>
            <a:off x="4545446" y="1897857"/>
            <a:ext cx="3151909" cy="101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sz="2000" dirty="0">
                <a:latin typeface="Bahnschrift Light" panose="020B0502040204020203" pitchFamily="34" charset="0"/>
              </a:rPr>
              <a:t>Приложение </a:t>
            </a:r>
            <a:r>
              <a:rPr lang="en-US" sz="2000" dirty="0">
                <a:latin typeface="Bahnschrift Light" panose="020B0502040204020203" pitchFamily="34" charset="0"/>
              </a:rPr>
              <a:t>gate.py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341AFA06-A8DA-60F9-49C6-93F26A673EB0}"/>
              </a:ext>
            </a:extLst>
          </p:cNvPr>
          <p:cNvSpPr txBox="1">
            <a:spLocks/>
          </p:cNvSpPr>
          <p:nvPr/>
        </p:nvSpPr>
        <p:spPr>
          <a:xfrm>
            <a:off x="8252692" y="1897856"/>
            <a:ext cx="3151909" cy="101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Bahnschrift Light" panose="020B0502040204020203" pitchFamily="34" charset="0"/>
              </a:rPr>
              <a:t>Arduino Uno + </a:t>
            </a:r>
            <a:r>
              <a:rPr lang="en-US" sz="2000" dirty="0" err="1">
                <a:latin typeface="Bahnschrift Light" panose="020B0502040204020203" pitchFamily="34" charset="0"/>
              </a:rPr>
              <a:t>module.ino</a:t>
            </a:r>
            <a:endParaRPr lang="ru-RU" sz="2000" dirty="0">
              <a:latin typeface="Bahnschrift Light" panose="020B0502040204020203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38D3A32-F99C-F6CB-14C7-77478217A0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23"/>
          <a:stretch/>
        </p:blipFill>
        <p:spPr>
          <a:xfrm>
            <a:off x="963169" y="2476790"/>
            <a:ext cx="2901969" cy="3785248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FC84FD2-9DAC-ADFB-AB6A-DF436A9F9D49}"/>
              </a:ext>
            </a:extLst>
          </p:cNvPr>
          <p:cNvCxnSpPr>
            <a:cxnSpLocks/>
          </p:cNvCxnSpPr>
          <p:nvPr/>
        </p:nvCxnSpPr>
        <p:spPr>
          <a:xfrm>
            <a:off x="7966365" y="1897856"/>
            <a:ext cx="0" cy="43641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3A89278-F4F3-F793-F948-89FF6AE45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277" y="2418773"/>
            <a:ext cx="2686245" cy="385416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B19D9C-3D4A-DBE0-B753-42E3114F4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756" y="2385704"/>
            <a:ext cx="3389780" cy="203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8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C3539-28EA-D48A-21D4-0550149A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837" y="-202924"/>
            <a:ext cx="10058400" cy="1450757"/>
          </a:xfrm>
        </p:spPr>
        <p:txBody>
          <a:bodyPr/>
          <a:lstStyle/>
          <a:p>
            <a:r>
              <a:rPr lang="ru-RU" dirty="0"/>
              <a:t>Режим работы и логика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92FD21E-A747-DAC4-9981-798BB44E5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45563"/>
              </p:ext>
            </p:extLst>
          </p:nvPr>
        </p:nvGraphicFramePr>
        <p:xfrm>
          <a:off x="792018" y="1613604"/>
          <a:ext cx="6310746" cy="48029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3582">
                  <a:extLst>
                    <a:ext uri="{9D8B030D-6E8A-4147-A177-3AD203B41FA5}">
                      <a16:colId xmlns:a16="http://schemas.microsoft.com/office/drawing/2014/main" val="2290366842"/>
                    </a:ext>
                  </a:extLst>
                </a:gridCol>
                <a:gridCol w="2103582">
                  <a:extLst>
                    <a:ext uri="{9D8B030D-6E8A-4147-A177-3AD203B41FA5}">
                      <a16:colId xmlns:a16="http://schemas.microsoft.com/office/drawing/2014/main" val="3440541895"/>
                    </a:ext>
                  </a:extLst>
                </a:gridCol>
                <a:gridCol w="2103582">
                  <a:extLst>
                    <a:ext uri="{9D8B030D-6E8A-4147-A177-3AD203B41FA5}">
                      <a16:colId xmlns:a16="http://schemas.microsoft.com/office/drawing/2014/main" val="2435510638"/>
                    </a:ext>
                  </a:extLst>
                </a:gridCol>
              </a:tblGrid>
              <a:tr h="344242">
                <a:tc>
                  <a:txBody>
                    <a:bodyPr/>
                    <a:lstStyle/>
                    <a:p>
                      <a:r>
                        <a:rPr lang="ru-RU" sz="1400" dirty="0"/>
                        <a:t>Режим или датчик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Ситуация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Что делает модуль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467757"/>
                  </a:ext>
                </a:extLst>
              </a:tr>
              <a:tr h="687505">
                <a:tc>
                  <a:txBody>
                    <a:bodyPr/>
                    <a:lstStyle/>
                    <a:p>
                      <a:r>
                        <a:rPr lang="ru-RU" sz="1400" dirty="0"/>
                        <a:t>Ручной режим (по умолчанию)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Оператор нажал «Открыть» или «Закрыть»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Шлагбаум открывается или закрывается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176424"/>
                  </a:ext>
                </a:extLst>
              </a:tr>
              <a:tr h="481253">
                <a:tc>
                  <a:txBody>
                    <a:bodyPr/>
                    <a:lstStyle/>
                    <a:p>
                      <a:r>
                        <a:rPr lang="ru-RU" sz="1400" dirty="0"/>
                        <a:t>Автоматический 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Автомобиль ближе 20 см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Шлагбаум открывается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57796"/>
                  </a:ext>
                </a:extLst>
              </a:tr>
              <a:tr h="344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Автоматический 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Автомобиль уехал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Шлагбаум закрывается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61170"/>
                  </a:ext>
                </a:extLst>
              </a:tr>
              <a:tr h="585211">
                <a:tc>
                  <a:txBody>
                    <a:bodyPr/>
                    <a:lstStyle/>
                    <a:p>
                      <a:r>
                        <a:rPr lang="ru-RU" sz="1400" dirty="0"/>
                        <a:t>Фоторезистор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Темно – ночь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Включается подсветка (светодиод </a:t>
                      </a:r>
                      <a:r>
                        <a:rPr lang="en-US" sz="1400" dirty="0"/>
                        <a:t>D13)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428084"/>
                  </a:ext>
                </a:extLst>
              </a:tr>
              <a:tr h="893755">
                <a:tc>
                  <a:txBody>
                    <a:bodyPr/>
                    <a:lstStyle/>
                    <a:p>
                      <a:r>
                        <a:rPr lang="en-US" sz="1400" dirty="0"/>
                        <a:t>DHT11</a:t>
                      </a:r>
                      <a:r>
                        <a:rPr lang="ru-RU" sz="1400" dirty="0"/>
                        <a:t>, температура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Выше порога – перегрев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Неисправность </a:t>
                      </a:r>
                      <a:r>
                        <a:rPr lang="en-US" sz="1400" dirty="0"/>
                        <a:t>OVERHEAT</a:t>
                      </a:r>
                      <a:r>
                        <a:rPr lang="ru-RU" sz="1400" dirty="0"/>
                        <a:t>, автоматика отключается; остыл – работает снова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453402"/>
                  </a:ext>
                </a:extLst>
              </a:tr>
              <a:tr h="1100006">
                <a:tc>
                  <a:txBody>
                    <a:bodyPr/>
                    <a:lstStyle/>
                    <a:p>
                      <a:r>
                        <a:rPr lang="en-US" sz="1400" dirty="0"/>
                        <a:t>DHT11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Выдернут провод</a:t>
                      </a:r>
                      <a:r>
                        <a:rPr lang="en-US" sz="1400" dirty="0"/>
                        <a:t> DATA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 Неисправность </a:t>
                      </a:r>
                      <a:r>
                        <a:rPr lang="en-US" sz="1400" dirty="0"/>
                        <a:t>NO_SIGNAL</a:t>
                      </a:r>
                      <a:r>
                        <a:rPr lang="ru-RU" sz="1400" dirty="0"/>
                        <a:t>, автоматика отключается; провод вернули – работает снова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571227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70054A-C2C7-5B70-25EF-7A93626D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8"/>
          <a:stretch/>
        </p:blipFill>
        <p:spPr>
          <a:xfrm>
            <a:off x="7555345" y="1613604"/>
            <a:ext cx="4220032" cy="43623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024769-C456-D8F5-6910-7512A8ADF1DD}"/>
              </a:ext>
            </a:extLst>
          </p:cNvPr>
          <p:cNvSpPr txBox="1"/>
          <p:nvPr/>
        </p:nvSpPr>
        <p:spPr>
          <a:xfrm>
            <a:off x="8312728" y="5902035"/>
            <a:ext cx="2364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Light" panose="020B0502040204020203" pitchFamily="34" charset="0"/>
              </a:rPr>
              <a:t>Рисунок</a:t>
            </a:r>
            <a:r>
              <a:rPr lang="ru-RU" sz="1400" dirty="0"/>
              <a:t> – Монитор порта</a:t>
            </a:r>
          </a:p>
        </p:txBody>
      </p:sp>
    </p:spTree>
    <p:extLst>
      <p:ext uri="{BB962C8B-B14F-4D97-AF65-F5344CB8AC3E}">
        <p14:creationId xmlns:p14="http://schemas.microsoft.com/office/powerpoint/2010/main" val="51240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00028-2844-BDEB-1363-7E33C9B2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53" y="229298"/>
            <a:ext cx="10058400" cy="1450757"/>
          </a:xfrm>
        </p:spPr>
        <p:txBody>
          <a:bodyPr/>
          <a:lstStyle/>
          <a:p>
            <a:r>
              <a:rPr lang="ru-RU" dirty="0"/>
              <a:t>Выявление неисправности: обрыв провода </a:t>
            </a:r>
            <a:r>
              <a:rPr lang="en-US" dirty="0"/>
              <a:t>DHT11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DB696D-664B-B998-1385-30E6DB26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15" y="1978186"/>
            <a:ext cx="3901867" cy="8914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9A903-36D0-CE75-56C4-FB969F8E2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2"/>
          <a:stretch/>
        </p:blipFill>
        <p:spPr>
          <a:xfrm>
            <a:off x="919515" y="3042595"/>
            <a:ext cx="3685309" cy="22038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DEA928-601A-31EC-6FF7-20123F74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39" r="147" b="3396"/>
          <a:stretch/>
        </p:blipFill>
        <p:spPr>
          <a:xfrm>
            <a:off x="919515" y="5533991"/>
            <a:ext cx="3685309" cy="386518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9AE483C-0A4C-1DA1-E4C4-D0C48458C17D}"/>
              </a:ext>
            </a:extLst>
          </p:cNvPr>
          <p:cNvGrpSpPr/>
          <p:nvPr/>
        </p:nvGrpSpPr>
        <p:grpSpPr>
          <a:xfrm>
            <a:off x="6991925" y="2199161"/>
            <a:ext cx="2964874" cy="3721348"/>
            <a:chOff x="5015344" y="2181975"/>
            <a:chExt cx="2964874" cy="3721348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B458CB74-6D3F-0208-0550-CDAD3BD01729}"/>
                </a:ext>
              </a:extLst>
            </p:cNvPr>
            <p:cNvGrpSpPr/>
            <p:nvPr/>
          </p:nvGrpSpPr>
          <p:grpSpPr>
            <a:xfrm>
              <a:off x="5015344" y="2181975"/>
              <a:ext cx="2964874" cy="2045340"/>
              <a:chOff x="5015344" y="2181975"/>
              <a:chExt cx="2964874" cy="204534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6F40B1-83F8-B86C-5934-C490107F9EA9}"/>
                  </a:ext>
                </a:extLst>
              </p:cNvPr>
              <p:cNvSpPr txBox="1"/>
              <p:nvPr/>
            </p:nvSpPr>
            <p:spPr>
              <a:xfrm>
                <a:off x="5015345" y="2181975"/>
                <a:ext cx="29648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ahnschrift Light" panose="020B0502040204020203" pitchFamily="34" charset="0"/>
                  </a:rPr>
                  <a:t>- </a:t>
                </a:r>
                <a:r>
                  <a:rPr lang="ru-RU" dirty="0">
                    <a:latin typeface="Bahnschrift Light" panose="020B0502040204020203" pitchFamily="34" charset="0"/>
                  </a:rPr>
                  <a:t>Монитор порта </a:t>
                </a:r>
                <a:r>
                  <a:rPr lang="en-US" dirty="0">
                    <a:latin typeface="Bahnschrift Light" panose="020B0502040204020203" pitchFamily="34" charset="0"/>
                  </a:rPr>
                  <a:t>Arduino IDE</a:t>
                </a:r>
                <a:endParaRPr lang="ru-RU" dirty="0">
                  <a:latin typeface="Bahnschrift Light" panose="020B0502040204020203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BB95E5-C3E5-74B7-F732-E74E91EF2C6C}"/>
                  </a:ext>
                </a:extLst>
              </p:cNvPr>
              <p:cNvSpPr txBox="1"/>
              <p:nvPr/>
            </p:nvSpPr>
            <p:spPr>
              <a:xfrm>
                <a:off x="5015344" y="3857983"/>
                <a:ext cx="29648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Bahnschrift Light" panose="020B0502040204020203" pitchFamily="34" charset="0"/>
                  </a:rPr>
                  <a:t>- </a:t>
                </a:r>
                <a:r>
                  <a:rPr lang="ru-RU" dirty="0">
                    <a:latin typeface="Bahnschrift Light" panose="020B0502040204020203" pitchFamily="34" charset="0"/>
                  </a:rPr>
                  <a:t>Окно программы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8A2042-4F01-3FA0-494C-E0FAC1F1E550}"/>
                </a:ext>
              </a:extLst>
            </p:cNvPr>
            <p:cNvSpPr txBox="1"/>
            <p:nvPr/>
          </p:nvSpPr>
          <p:spPr>
            <a:xfrm>
              <a:off x="5015344" y="5533991"/>
              <a:ext cx="2964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ahnschrift Light" panose="020B0502040204020203" pitchFamily="34" charset="0"/>
                </a:rPr>
                <a:t>- </a:t>
              </a:r>
              <a:r>
                <a:rPr lang="ru-RU" dirty="0">
                  <a:latin typeface="Bahnschrift Light" panose="020B0502040204020203" pitchFamily="34" charset="0"/>
                </a:rPr>
                <a:t>База данных </a:t>
              </a:r>
              <a:r>
                <a:rPr lang="en-US" dirty="0" err="1">
                  <a:latin typeface="Bahnschrift Light" panose="020B0502040204020203" pitchFamily="34" charset="0"/>
                </a:rPr>
                <a:t>events.db</a:t>
              </a:r>
              <a:endParaRPr lang="ru-RU" dirty="0">
                <a:latin typeface="Bahnschrift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8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0137F-548A-CD45-5800-CEB232B1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698" y="166530"/>
            <a:ext cx="10058400" cy="1450757"/>
          </a:xfrm>
        </p:spPr>
        <p:txBody>
          <a:bodyPr/>
          <a:lstStyle/>
          <a:p>
            <a:r>
              <a:rPr lang="ru-RU" dirty="0"/>
              <a:t>Что делать пользователю при неисправности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76AD1-F42C-F885-4F16-84789EC0E6C8}"/>
              </a:ext>
            </a:extLst>
          </p:cNvPr>
          <p:cNvSpPr txBox="1"/>
          <p:nvPr/>
        </p:nvSpPr>
        <p:spPr>
          <a:xfrm>
            <a:off x="2216725" y="2121653"/>
            <a:ext cx="653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Обнаружить неисправность в мониторинге системы;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DB084E-4BE3-05BE-3620-C0BAE2A7263B}"/>
              </a:ext>
            </a:extLst>
          </p:cNvPr>
          <p:cNvSpPr txBox="1"/>
          <p:nvPr/>
        </p:nvSpPr>
        <p:spPr>
          <a:xfrm>
            <a:off x="2216726" y="2885039"/>
            <a:ext cx="653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Проверить подключение провода </a:t>
            </a:r>
            <a:r>
              <a:rPr lang="en-US" dirty="0">
                <a:latin typeface="Bahnschrift Light" panose="020B0502040204020203" pitchFamily="34" charset="0"/>
              </a:rPr>
              <a:t>DATA </a:t>
            </a:r>
            <a:r>
              <a:rPr lang="ru-RU" dirty="0">
                <a:latin typeface="Bahnschrift Light" panose="020B0502040204020203" pitchFamily="34" charset="0"/>
              </a:rPr>
              <a:t>к пину </a:t>
            </a:r>
            <a:r>
              <a:rPr lang="en-US" dirty="0">
                <a:latin typeface="Bahnschrift Light" panose="020B0502040204020203" pitchFamily="34" charset="0"/>
              </a:rPr>
              <a:t>D2;</a:t>
            </a:r>
            <a:endParaRPr lang="ru-RU" dirty="0">
              <a:latin typeface="Bahnschrift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FB5BF0-B34C-A0ED-F573-4E0CB9FA5FFA}"/>
              </a:ext>
            </a:extLst>
          </p:cNvPr>
          <p:cNvSpPr txBox="1"/>
          <p:nvPr/>
        </p:nvSpPr>
        <p:spPr>
          <a:xfrm>
            <a:off x="2216724" y="3648425"/>
            <a:ext cx="8118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Выполнить самопроверку при помощи нажатия на соответствующую кнопку;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1CDB1-ECF7-96FC-01B8-C56EB4360E58}"/>
              </a:ext>
            </a:extLst>
          </p:cNvPr>
          <p:cNvSpPr txBox="1"/>
          <p:nvPr/>
        </p:nvSpPr>
        <p:spPr>
          <a:xfrm>
            <a:off x="2216724" y="4411811"/>
            <a:ext cx="653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Выполнить сброс;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EFF2E-5B25-6D72-3A97-940321B5D374}"/>
              </a:ext>
            </a:extLst>
          </p:cNvPr>
          <p:cNvSpPr txBox="1"/>
          <p:nvPr/>
        </p:nvSpPr>
        <p:spPr>
          <a:xfrm>
            <a:off x="2202867" y="5175197"/>
            <a:ext cx="7920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" panose="020B0502040204020203" pitchFamily="34" charset="0"/>
              </a:rPr>
              <a:t>Если неисправность не удалось исправить самостоятельно – обратиться к специалисту.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0D89B9C-5919-A8E5-95D1-EC7B6E2CB4A9}"/>
              </a:ext>
            </a:extLst>
          </p:cNvPr>
          <p:cNvSpPr/>
          <p:nvPr/>
        </p:nvSpPr>
        <p:spPr>
          <a:xfrm>
            <a:off x="1304636" y="1940560"/>
            <a:ext cx="731520" cy="73151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  <a:endParaRPr lang="ru-RU" b="1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B962EBA-ABFB-2500-8CEC-C63F667EC462}"/>
              </a:ext>
            </a:extLst>
          </p:cNvPr>
          <p:cNvSpPr/>
          <p:nvPr/>
        </p:nvSpPr>
        <p:spPr>
          <a:xfrm>
            <a:off x="1304636" y="2702214"/>
            <a:ext cx="731520" cy="73151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ru-RU" b="1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1D2571E-EBDB-0133-5AA3-331710872391}"/>
              </a:ext>
            </a:extLst>
          </p:cNvPr>
          <p:cNvSpPr/>
          <p:nvPr/>
        </p:nvSpPr>
        <p:spPr>
          <a:xfrm>
            <a:off x="1304636" y="3468171"/>
            <a:ext cx="731520" cy="73151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ru-RU" b="1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9632E66-046B-758F-0058-BF1E39B364D4}"/>
              </a:ext>
            </a:extLst>
          </p:cNvPr>
          <p:cNvSpPr/>
          <p:nvPr/>
        </p:nvSpPr>
        <p:spPr>
          <a:xfrm>
            <a:off x="1304636" y="4230717"/>
            <a:ext cx="731520" cy="73151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ru-RU" b="1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B006E475-0D5D-007F-A44D-CB6AF5793D95}"/>
              </a:ext>
            </a:extLst>
          </p:cNvPr>
          <p:cNvSpPr/>
          <p:nvPr/>
        </p:nvSpPr>
        <p:spPr>
          <a:xfrm>
            <a:off x="1304636" y="4993263"/>
            <a:ext cx="731520" cy="73151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1306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9CB5F-0182-D3BC-6A24-6E03C6E0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Предложения по модернизации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A8385D-A5F6-B895-BA7C-E1236A1D6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Уведомления о неисправности фоторезистора и УЗ-датчика;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Звуковое оповещение о неисправности при помощи </a:t>
            </a:r>
            <a:r>
              <a:rPr lang="ru-RU" dirty="0" err="1"/>
              <a:t>пьезоизлучателя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4185043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45</TotalTime>
  <Words>217</Words>
  <Application>Microsoft Office PowerPoint</Application>
  <PresentationFormat>Широкоэкранный</PresentationFormat>
  <Paragraphs>49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Bahnschrift Light</vt:lpstr>
      <vt:lpstr>Corbel</vt:lpstr>
      <vt:lpstr>Gill Sans MT</vt:lpstr>
      <vt:lpstr>Посылка</vt:lpstr>
      <vt:lpstr>Система «Умный перекресток» Модуль «Шлагбаум»</vt:lpstr>
      <vt:lpstr>Состав модуля</vt:lpstr>
      <vt:lpstr>Режим работы и логика</vt:lpstr>
      <vt:lpstr>Выявление неисправности: обрыв провода DHT11</vt:lpstr>
      <vt:lpstr>Что делать пользователю при неисправности</vt:lpstr>
      <vt:lpstr>Предложения по модернизации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Stud908</dc:creator>
  <cp:lastModifiedBy>Stud907</cp:lastModifiedBy>
  <cp:revision>9</cp:revision>
  <dcterms:created xsi:type="dcterms:W3CDTF">2026-10-21T15:43:11Z</dcterms:created>
  <dcterms:modified xsi:type="dcterms:W3CDTF">2026-10-24T08:51:20Z</dcterms:modified>
</cp:coreProperties>
</file>